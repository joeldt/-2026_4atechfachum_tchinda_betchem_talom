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ora" charset="1" panose="000005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150" y="2946502"/>
            <a:ext cx="79550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FeatherMind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0" y="4208564"/>
            <a:ext cx="10250091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Biofeedback temps réel · Inspiré de la sieste hypnagogique de Dalí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387" y="5104809"/>
            <a:ext cx="4427782" cy="590845"/>
            <a:chOff x="0" y="0"/>
            <a:chExt cx="5903709" cy="787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03722" cy="787781"/>
            </a:xfrm>
            <a:custGeom>
              <a:avLst/>
              <a:gdLst/>
              <a:ahLst/>
              <a:cxnLst/>
              <a:rect r="r" b="b" t="t" l="l"/>
              <a:pathLst>
                <a:path h="787781" w="5903722">
                  <a:moveTo>
                    <a:pt x="0" y="54229"/>
                  </a:moveTo>
                  <a:cubicBezTo>
                    <a:pt x="0" y="24257"/>
                    <a:pt x="24638" y="0"/>
                    <a:pt x="54864" y="0"/>
                  </a:cubicBezTo>
                  <a:lnTo>
                    <a:pt x="5848858" y="0"/>
                  </a:lnTo>
                  <a:lnTo>
                    <a:pt x="5848858" y="6350"/>
                  </a:lnTo>
                  <a:lnTo>
                    <a:pt x="5848858" y="0"/>
                  </a:lnTo>
                  <a:cubicBezTo>
                    <a:pt x="5879084" y="0"/>
                    <a:pt x="5903722" y="24257"/>
                    <a:pt x="5903722" y="54229"/>
                  </a:cubicBezTo>
                  <a:lnTo>
                    <a:pt x="5897372" y="54229"/>
                  </a:lnTo>
                  <a:lnTo>
                    <a:pt x="5903722" y="54229"/>
                  </a:lnTo>
                  <a:lnTo>
                    <a:pt x="5903722" y="733552"/>
                  </a:lnTo>
                  <a:lnTo>
                    <a:pt x="5897372" y="733552"/>
                  </a:lnTo>
                  <a:lnTo>
                    <a:pt x="5903722" y="733552"/>
                  </a:lnTo>
                  <a:cubicBezTo>
                    <a:pt x="5903722" y="763524"/>
                    <a:pt x="5879084" y="787781"/>
                    <a:pt x="5848858" y="787781"/>
                  </a:cubicBezTo>
                  <a:lnTo>
                    <a:pt x="5848858" y="781431"/>
                  </a:lnTo>
                  <a:lnTo>
                    <a:pt x="5848858" y="787781"/>
                  </a:lnTo>
                  <a:lnTo>
                    <a:pt x="54864" y="787781"/>
                  </a:lnTo>
                  <a:lnTo>
                    <a:pt x="54864" y="781431"/>
                  </a:lnTo>
                  <a:lnTo>
                    <a:pt x="54864" y="787781"/>
                  </a:lnTo>
                  <a:cubicBezTo>
                    <a:pt x="24638" y="787781"/>
                    <a:pt x="0" y="763651"/>
                    <a:pt x="0" y="733552"/>
                  </a:cubicBezTo>
                  <a:lnTo>
                    <a:pt x="0" y="54229"/>
                  </a:lnTo>
                  <a:lnTo>
                    <a:pt x="6350" y="54229"/>
                  </a:lnTo>
                  <a:lnTo>
                    <a:pt x="0" y="54229"/>
                  </a:lnTo>
                  <a:moveTo>
                    <a:pt x="12700" y="54229"/>
                  </a:moveTo>
                  <a:lnTo>
                    <a:pt x="12700" y="733552"/>
                  </a:lnTo>
                  <a:lnTo>
                    <a:pt x="6350" y="733552"/>
                  </a:lnTo>
                  <a:lnTo>
                    <a:pt x="12700" y="733552"/>
                  </a:lnTo>
                  <a:cubicBezTo>
                    <a:pt x="12700" y="756412"/>
                    <a:pt x="31496" y="775081"/>
                    <a:pt x="54864" y="775081"/>
                  </a:cubicBezTo>
                  <a:lnTo>
                    <a:pt x="5848858" y="775081"/>
                  </a:lnTo>
                  <a:cubicBezTo>
                    <a:pt x="5872226" y="775081"/>
                    <a:pt x="5891022" y="756412"/>
                    <a:pt x="5891022" y="733552"/>
                  </a:cubicBezTo>
                  <a:lnTo>
                    <a:pt x="5891022" y="54229"/>
                  </a:lnTo>
                  <a:cubicBezTo>
                    <a:pt x="5891022" y="31369"/>
                    <a:pt x="5872226" y="12700"/>
                    <a:pt x="5848858" y="12700"/>
                  </a:cubicBezTo>
                  <a:lnTo>
                    <a:pt x="54864" y="12700"/>
                  </a:lnTo>
                  <a:lnTo>
                    <a:pt x="54864" y="6350"/>
                  </a:lnTo>
                  <a:lnTo>
                    <a:pt x="54864" y="12700"/>
                  </a:lnTo>
                  <a:cubicBezTo>
                    <a:pt x="31496" y="12700"/>
                    <a:pt x="12700" y="31369"/>
                    <a:pt x="12700" y="54229"/>
                  </a:cubicBezTo>
                  <a:close/>
                </a:path>
              </a:pathLst>
            </a:custGeom>
            <a:solidFill>
              <a:srgbClr val="F98AC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6164" y="5142157"/>
            <a:ext cx="4954638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ENSIM · 4A · TECH &amp; FACTEURS HUMAINS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50" y="5941666"/>
            <a:ext cx="9335691" cy="137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Rédigé par: Warren Betchem, Nana Talom Franck, Joel Tchinda Tapa</a:t>
            </a:r>
          </a:p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Encadrant: Emmanuel Blanchard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05150" y="2116484"/>
            <a:ext cx="79550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L'Inspiration de Dalí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5150" y="3378546"/>
            <a:ext cx="9335691" cy="104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Dalí s'assoupissait avec une </a:t>
            </a:r>
            <a:r>
              <a:rPr lang="en-US" sz="2300" b="true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clé à la main</a:t>
            </a: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- sa chute le réveillait à l'état hypnagogique, seuil propice à la créativité.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905150" y="4758328"/>
            <a:ext cx="9335691" cy="3392986"/>
            <a:chOff x="0" y="0"/>
            <a:chExt cx="12447588" cy="4523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47524" cy="4523994"/>
            </a:xfrm>
            <a:custGeom>
              <a:avLst/>
              <a:gdLst/>
              <a:ahLst/>
              <a:cxnLst/>
              <a:rect r="r" b="b" t="t" l="l"/>
              <a:pathLst>
                <a:path h="4523994" w="1244752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4464177"/>
                  </a:lnTo>
                  <a:cubicBezTo>
                    <a:pt x="12447524" y="4497197"/>
                    <a:pt x="12420727" y="4523994"/>
                    <a:pt x="12387707" y="4523994"/>
                  </a:cubicBezTo>
                  <a:lnTo>
                    <a:pt x="59817" y="4523994"/>
                  </a:lnTo>
                  <a:cubicBezTo>
                    <a:pt x="26797" y="4523994"/>
                    <a:pt x="0" y="4497197"/>
                    <a:pt x="0" y="4464177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05150" y="4758328"/>
            <a:ext cx="9335691" cy="1696488"/>
            <a:chOff x="0" y="0"/>
            <a:chExt cx="12447588" cy="2261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47524" cy="2261997"/>
            </a:xfrm>
            <a:custGeom>
              <a:avLst/>
              <a:gdLst/>
              <a:ahLst/>
              <a:cxnLst/>
              <a:rect r="r" b="b" t="t" l="l"/>
              <a:pathLst>
                <a:path h="2261997" w="1244752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2202180"/>
                  </a:lnTo>
                  <a:cubicBezTo>
                    <a:pt x="12447524" y="2235200"/>
                    <a:pt x="12420727" y="2261997"/>
                    <a:pt x="12387707" y="2261997"/>
                  </a:cubicBezTo>
                  <a:lnTo>
                    <a:pt x="59817" y="2261997"/>
                  </a:lnTo>
                  <a:cubicBezTo>
                    <a:pt x="26797" y="2261997"/>
                    <a:pt x="0" y="2235200"/>
                    <a:pt x="0" y="2202180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04302" y="5047955"/>
            <a:ext cx="3787826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Veille → Hypnagogique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04302" y="5591175"/>
            <a:ext cx="873740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Zone de récupération cognitive optimale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905150" y="6454826"/>
            <a:ext cx="9335691" cy="1696488"/>
            <a:chOff x="0" y="0"/>
            <a:chExt cx="12447588" cy="2261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47524" cy="2261997"/>
            </a:xfrm>
            <a:custGeom>
              <a:avLst/>
              <a:gdLst/>
              <a:ahLst/>
              <a:cxnLst/>
              <a:rect r="r" b="b" t="t" l="l"/>
              <a:pathLst>
                <a:path h="2261997" w="12447524">
                  <a:moveTo>
                    <a:pt x="0" y="0"/>
                  </a:moveTo>
                  <a:lnTo>
                    <a:pt x="12447524" y="0"/>
                  </a:lnTo>
                  <a:lnTo>
                    <a:pt x="12447524" y="2261997"/>
                  </a:lnTo>
                  <a:lnTo>
                    <a:pt x="0" y="2261997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905150" y="6454826"/>
            <a:ext cx="9335691" cy="38100"/>
            <a:chOff x="0" y="0"/>
            <a:chExt cx="12447588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47524" cy="50800"/>
            </a:xfrm>
            <a:custGeom>
              <a:avLst/>
              <a:gdLst/>
              <a:ahLst/>
              <a:cxnLst/>
              <a:rect r="r" b="b" t="t" l="l"/>
              <a:pathLst>
                <a:path h="50800" w="1244752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422124" y="0"/>
                  </a:lnTo>
                  <a:cubicBezTo>
                    <a:pt x="12436094" y="0"/>
                    <a:pt x="12447524" y="11430"/>
                    <a:pt x="12447524" y="25400"/>
                  </a:cubicBezTo>
                  <a:cubicBezTo>
                    <a:pt x="12447524" y="39370"/>
                    <a:pt x="12436094" y="50800"/>
                    <a:pt x="1242212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D606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204302" y="6744443"/>
            <a:ext cx="3862835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Alarme au seuil critique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04302" y="7287663"/>
            <a:ext cx="873740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Éviter l'endormissement complet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1518" y="701278"/>
            <a:ext cx="6524777" cy="71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Ancrage Théorique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01518" y="1910801"/>
            <a:ext cx="7451522" cy="7451522"/>
            <a:chOff x="0" y="0"/>
            <a:chExt cx="9935362" cy="9935362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01518" y="1910801"/>
            <a:ext cx="7451522" cy="7451522"/>
            <a:chOff x="0" y="0"/>
            <a:chExt cx="9935362" cy="99353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44190" y="4643285"/>
            <a:ext cx="4181627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Quatre piliers théoriques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4190" y="5145729"/>
            <a:ext cx="7451522" cy="160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592"/>
              </a:lnSpc>
              <a:buFont typeface="Arial"/>
              <a:buChar char="•"/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Conscience de la situation (Endsley)</a:t>
            </a:r>
          </a:p>
          <a:p>
            <a:pPr algn="l" marL="434340" indent="-217170" lvl="1">
              <a:lnSpc>
                <a:spcPts val="2592"/>
              </a:lnSpc>
              <a:buFont typeface="Arial"/>
              <a:buChar char="•"/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Charge cognitive (Sweller)</a:t>
            </a:r>
          </a:p>
          <a:p>
            <a:pPr algn="l" marL="434340" indent="-217170" lvl="1">
              <a:lnSpc>
                <a:spcPts val="2592"/>
              </a:lnSpc>
              <a:buFont typeface="Arial"/>
              <a:buChar char="•"/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Modèle Yerkes-Dodson</a:t>
            </a:r>
          </a:p>
          <a:p>
            <a:pPr algn="l" marL="434340" indent="-217170" lvl="1">
              <a:lnSpc>
                <a:spcPts val="2592"/>
              </a:lnSpc>
              <a:buFont typeface="Arial"/>
              <a:buChar char="•"/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État hypnagogique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05127" y="678504"/>
            <a:ext cx="6304807" cy="6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Matériel : BITalino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5127" y="1831477"/>
            <a:ext cx="4535243" cy="5083226"/>
            <a:chOff x="0" y="0"/>
            <a:chExt cx="6046991" cy="6777634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046978" cy="6777609"/>
            </a:xfrm>
            <a:custGeom>
              <a:avLst/>
              <a:gdLst/>
              <a:ahLst/>
              <a:cxnLst/>
              <a:rect r="r" b="b" t="t" l="l"/>
              <a:pathLst>
                <a:path h="6777609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6777609"/>
                  </a:lnTo>
                  <a:lnTo>
                    <a:pt x="0" y="6777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" r="0" b="-4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05127" y="7102373"/>
            <a:ext cx="36095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PZT — Port A5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5127" y="7585920"/>
            <a:ext cx="544964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Ceinture respiratoire - signal principal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08594" y="1831477"/>
            <a:ext cx="4689577" cy="3143402"/>
            <a:chOff x="0" y="0"/>
            <a:chExt cx="6252769" cy="419120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252718" cy="4191254"/>
            </a:xfrm>
            <a:custGeom>
              <a:avLst/>
              <a:gdLst/>
              <a:ahLst/>
              <a:cxnLst/>
              <a:rect r="r" b="b" t="t" l="l"/>
              <a:pathLst>
                <a:path h="4191254" w="6252718">
                  <a:moveTo>
                    <a:pt x="0" y="0"/>
                  </a:moveTo>
                  <a:lnTo>
                    <a:pt x="6252718" y="0"/>
                  </a:lnTo>
                  <a:lnTo>
                    <a:pt x="6252718" y="4191254"/>
                  </a:lnTo>
                  <a:lnTo>
                    <a:pt x="0" y="419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" r="0" b="-3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08594" y="5162550"/>
            <a:ext cx="36095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ACC — Ports A1–A3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08594" y="5646096"/>
            <a:ext cx="5603977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Accéléromètre 3 axes - mouvement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66394" y="1831477"/>
            <a:ext cx="4535243" cy="6046889"/>
            <a:chOff x="0" y="0"/>
            <a:chExt cx="6046991" cy="806251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046978" cy="8062468"/>
            </a:xfrm>
            <a:custGeom>
              <a:avLst/>
              <a:gdLst/>
              <a:ahLst/>
              <a:cxnLst/>
              <a:rect r="r" b="b" t="t" l="l"/>
              <a:pathLst>
                <a:path h="8062468" w="6046978">
                  <a:moveTo>
                    <a:pt x="0" y="0"/>
                  </a:moveTo>
                  <a:lnTo>
                    <a:pt x="6046978" y="0"/>
                  </a:lnTo>
                  <a:lnTo>
                    <a:pt x="6046978" y="8062468"/>
                  </a:lnTo>
                  <a:lnTo>
                    <a:pt x="0" y="8062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" r="0" b="-2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066394" y="8066037"/>
            <a:ext cx="36095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PPG — Port A4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66394" y="8549583"/>
            <a:ext cx="544964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Photo pléthysmographie - rythme cardiaque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5127" y="9227944"/>
            <a:ext cx="15792002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Bluetooth · 100 Hz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7909" y="728815"/>
            <a:ext cx="7098506" cy="74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Architecture Logicielle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7909" y="1886988"/>
            <a:ext cx="16092192" cy="7058920"/>
            <a:chOff x="0" y="0"/>
            <a:chExt cx="21456256" cy="9411894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1456269" cy="9411843"/>
            </a:xfrm>
            <a:custGeom>
              <a:avLst/>
              <a:gdLst/>
              <a:ahLst/>
              <a:cxnLst/>
              <a:rect r="r" b="b" t="t" l="l"/>
              <a:pathLst>
                <a:path h="9411843" w="21456269">
                  <a:moveTo>
                    <a:pt x="0" y="0"/>
                  </a:moveTo>
                  <a:lnTo>
                    <a:pt x="21456269" y="0"/>
                  </a:lnTo>
                  <a:lnTo>
                    <a:pt x="21456269" y="9411843"/>
                  </a:lnTo>
                  <a:lnTo>
                    <a:pt x="0" y="9411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517528" y="7122995"/>
            <a:ext cx="2889323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Traitement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4728" y="7694552"/>
            <a:ext cx="2432123" cy="61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21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NumPy, filtrage et détection de bpm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43808" y="6804622"/>
            <a:ext cx="2889323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Interface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01008" y="7376170"/>
            <a:ext cx="2432123" cy="93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21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Tkinter: plume animée, courbes, alarmes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9551" y="2502379"/>
            <a:ext cx="2889323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Acquisition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6751" y="3073937"/>
            <a:ext cx="2432123" cy="93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21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Capteurs PZT/PPG/ACC, Bluetooth, CSV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4865" y="2502379"/>
            <a:ext cx="2889323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Calcul 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92065" y="3073937"/>
            <a:ext cx="2432123" cy="61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21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BPM, stabilité et pondérations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909" y="9129112"/>
            <a:ext cx="17006592" cy="41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Quatre modules Python : </a:t>
            </a:r>
            <a:r>
              <a:rPr lang="en-US" sz="1900" b="true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acquisition.py</a:t>
            </a:r>
            <a:r>
              <a:rPr lang="en-US" sz="19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1900" b="true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processing.py</a:t>
            </a:r>
            <a:r>
              <a:rPr lang="en-US" sz="19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1900" b="true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biofeedback.py</a:t>
            </a:r>
            <a:r>
              <a:rPr lang="en-US" sz="19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1900" b="true">
                <a:solidFill>
                  <a:srgbClr val="D6E5E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app.py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8191" y="832695"/>
            <a:ext cx="10626033" cy="8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Score de Relaxation Composite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6059" y="4202011"/>
            <a:ext cx="3507877" cy="59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7"/>
              </a:lnSpc>
            </a:pPr>
            <a:r>
              <a:rPr lang="en-US" sz="559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50%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1192" y="2305345"/>
            <a:ext cx="4277916" cy="4277916"/>
            <a:chOff x="0" y="0"/>
            <a:chExt cx="5703888" cy="570388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5703951" cy="5703951"/>
            </a:xfrm>
            <a:custGeom>
              <a:avLst/>
              <a:gdLst/>
              <a:ahLst/>
              <a:cxnLst/>
              <a:rect r="r" b="b" t="t" l="l"/>
              <a:pathLst>
                <a:path h="5703951" w="5703951">
                  <a:moveTo>
                    <a:pt x="0" y="0"/>
                  </a:moveTo>
                  <a:lnTo>
                    <a:pt x="5703951" y="0"/>
                  </a:lnTo>
                  <a:lnTo>
                    <a:pt x="5703951" y="5703951"/>
                  </a:lnTo>
                  <a:lnTo>
                    <a:pt x="0" y="5703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2564" y="6916788"/>
            <a:ext cx="3355181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Respiratoire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191" y="7432329"/>
            <a:ext cx="5203927" cy="5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</a:pPr>
            <a:r>
              <a:rPr lang="en-US" sz="22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Taux, régularité, amplitude PZT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9762" y="4202011"/>
            <a:ext cx="3507877" cy="59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7"/>
              </a:lnSpc>
            </a:pPr>
            <a:r>
              <a:rPr lang="en-US" sz="559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35%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04895" y="2305345"/>
            <a:ext cx="4277916" cy="4277916"/>
            <a:chOff x="0" y="0"/>
            <a:chExt cx="5703888" cy="570388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703951" cy="5703951"/>
            </a:xfrm>
            <a:custGeom>
              <a:avLst/>
              <a:gdLst/>
              <a:ahLst/>
              <a:cxnLst/>
              <a:rect r="r" b="b" t="t" l="l"/>
              <a:pathLst>
                <a:path h="5703951" w="5703951">
                  <a:moveTo>
                    <a:pt x="0" y="0"/>
                  </a:moveTo>
                  <a:lnTo>
                    <a:pt x="5703951" y="0"/>
                  </a:lnTo>
                  <a:lnTo>
                    <a:pt x="5703951" y="5703951"/>
                  </a:lnTo>
                  <a:lnTo>
                    <a:pt x="0" y="5703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466257" y="6916788"/>
            <a:ext cx="3355181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Mobilité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1894" y="7432329"/>
            <a:ext cx="5204069" cy="5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</a:pPr>
            <a:r>
              <a:rPr lang="en-US" sz="22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Inverse du mouvement RMS (ACC)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33607" y="4202011"/>
            <a:ext cx="3507877" cy="59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7"/>
              </a:lnSpc>
            </a:pPr>
            <a:r>
              <a:rPr lang="en-US" sz="559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15%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48740" y="2305345"/>
            <a:ext cx="4277916" cy="4277916"/>
            <a:chOff x="0" y="0"/>
            <a:chExt cx="5703888" cy="57038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703951" cy="5703951"/>
            </a:xfrm>
            <a:custGeom>
              <a:avLst/>
              <a:gdLst/>
              <a:ahLst/>
              <a:cxnLst/>
              <a:rect r="r" b="b" t="t" l="l"/>
              <a:pathLst>
                <a:path h="5703951" w="5703951">
                  <a:moveTo>
                    <a:pt x="0" y="0"/>
                  </a:moveTo>
                  <a:lnTo>
                    <a:pt x="5703951" y="0"/>
                  </a:lnTo>
                  <a:lnTo>
                    <a:pt x="5703951" y="5703951"/>
                  </a:lnTo>
                  <a:lnTo>
                    <a:pt x="0" y="5703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010112" y="6916788"/>
            <a:ext cx="3355181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Cardiaque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85739" y="7432329"/>
            <a:ext cx="5204069" cy="5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</a:pPr>
            <a:r>
              <a:rPr lang="en-US" sz="22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Qualité PPG, cohérence bpm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8191" y="8259661"/>
            <a:ext cx="16291617" cy="1175595"/>
            <a:chOff x="0" y="0"/>
            <a:chExt cx="21722156" cy="15674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22080" cy="1567434"/>
            </a:xfrm>
            <a:custGeom>
              <a:avLst/>
              <a:gdLst/>
              <a:ahLst/>
              <a:cxnLst/>
              <a:rect r="r" b="b" t="t" l="l"/>
              <a:pathLst>
                <a:path h="1567434" w="21722080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21665057" y="0"/>
                  </a:lnTo>
                  <a:cubicBezTo>
                    <a:pt x="21696553" y="0"/>
                    <a:pt x="21722080" y="25527"/>
                    <a:pt x="21722080" y="57023"/>
                  </a:cubicBezTo>
                  <a:lnTo>
                    <a:pt x="21722080" y="1510411"/>
                  </a:lnTo>
                  <a:cubicBezTo>
                    <a:pt x="21722080" y="1541907"/>
                    <a:pt x="21696553" y="1567434"/>
                    <a:pt x="21665057" y="1567434"/>
                  </a:cubicBezTo>
                  <a:lnTo>
                    <a:pt x="57023" y="1567434"/>
                  </a:lnTo>
                  <a:cubicBezTo>
                    <a:pt x="25527" y="1567434"/>
                    <a:pt x="0" y="1541907"/>
                    <a:pt x="0" y="1510411"/>
                  </a:cubicBezTo>
                  <a:close/>
                </a:path>
              </a:pathLst>
            </a:custGeom>
            <a:solidFill>
              <a:srgbClr val="49042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3341" y="8671322"/>
            <a:ext cx="356445" cy="285150"/>
            <a:chOff x="0" y="0"/>
            <a:chExt cx="475259" cy="380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75234" cy="380238"/>
            </a:xfrm>
            <a:custGeom>
              <a:avLst/>
              <a:gdLst/>
              <a:ahLst/>
              <a:cxnLst/>
              <a:rect r="r" b="b" t="t" l="l"/>
              <a:pathLst>
                <a:path h="380238" w="475234">
                  <a:moveTo>
                    <a:pt x="0" y="0"/>
                  </a:moveTo>
                  <a:lnTo>
                    <a:pt x="475234" y="0"/>
                  </a:lnTo>
                  <a:lnTo>
                    <a:pt x="475234" y="380238"/>
                  </a:lnTo>
                  <a:lnTo>
                    <a:pt x="0" y="380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74" r="-5" b="-66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924945" y="8526513"/>
            <a:ext cx="15994113" cy="52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Lissage exponentiel : </a:t>
            </a:r>
            <a:r>
              <a:rPr lang="en-US" sz="22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score(t) = 0,92 × score(t-1) + 0,08 × cible(t)</a:t>
            </a:r>
            <a:r>
              <a:rPr lang="en-US" sz="22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Alarme réveil à 0,82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6334" y="736397"/>
            <a:ext cx="7074846" cy="77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Interface Utilisateur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3329" y="1859309"/>
            <a:ext cx="10281199" cy="5526138"/>
            <a:chOff x="0" y="0"/>
            <a:chExt cx="13708266" cy="7368184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3708253" cy="7368159"/>
            </a:xfrm>
            <a:custGeom>
              <a:avLst/>
              <a:gdLst/>
              <a:ahLst/>
              <a:cxnLst/>
              <a:rect r="r" b="b" t="t" l="l"/>
              <a:pathLst>
                <a:path h="7368159" w="13708253">
                  <a:moveTo>
                    <a:pt x="0" y="0"/>
                  </a:moveTo>
                  <a:lnTo>
                    <a:pt x="13708253" y="0"/>
                  </a:lnTo>
                  <a:lnTo>
                    <a:pt x="13708253" y="7368159"/>
                  </a:lnTo>
                  <a:lnTo>
                    <a:pt x="0" y="736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2046" y="7628782"/>
            <a:ext cx="5360937" cy="1926431"/>
            <a:chOff x="0" y="0"/>
            <a:chExt cx="7147916" cy="2568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7109714" cy="2530475"/>
            </a:xfrm>
            <a:custGeom>
              <a:avLst/>
              <a:gdLst/>
              <a:ahLst/>
              <a:cxnLst/>
              <a:rect r="r" b="b" t="t" l="l"/>
              <a:pathLst>
                <a:path h="2530475" w="7109714">
                  <a:moveTo>
                    <a:pt x="0" y="52324"/>
                  </a:moveTo>
                  <a:cubicBezTo>
                    <a:pt x="0" y="23495"/>
                    <a:pt x="23622" y="0"/>
                    <a:pt x="52832" y="0"/>
                  </a:cubicBezTo>
                  <a:lnTo>
                    <a:pt x="7056882" y="0"/>
                  </a:lnTo>
                  <a:cubicBezTo>
                    <a:pt x="7086092" y="0"/>
                    <a:pt x="7109714" y="23495"/>
                    <a:pt x="7109714" y="52324"/>
                  </a:cubicBezTo>
                  <a:lnTo>
                    <a:pt x="7109714" y="2478151"/>
                  </a:lnTo>
                  <a:cubicBezTo>
                    <a:pt x="7109714" y="2507107"/>
                    <a:pt x="7086092" y="2530475"/>
                    <a:pt x="7056882" y="2530475"/>
                  </a:cubicBezTo>
                  <a:lnTo>
                    <a:pt x="52832" y="2530475"/>
                  </a:lnTo>
                  <a:cubicBezTo>
                    <a:pt x="23622" y="2530475"/>
                    <a:pt x="0" y="2506980"/>
                    <a:pt x="0" y="2478151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47814" cy="2568575"/>
            </a:xfrm>
            <a:custGeom>
              <a:avLst/>
              <a:gdLst/>
              <a:ahLst/>
              <a:cxnLst/>
              <a:rect r="r" b="b" t="t" l="l"/>
              <a:pathLst>
                <a:path h="2568575" w="7147814">
                  <a:moveTo>
                    <a:pt x="0" y="71374"/>
                  </a:moveTo>
                  <a:cubicBezTo>
                    <a:pt x="0" y="31750"/>
                    <a:pt x="32385" y="0"/>
                    <a:pt x="71882" y="0"/>
                  </a:cubicBezTo>
                  <a:lnTo>
                    <a:pt x="7075932" y="0"/>
                  </a:lnTo>
                  <a:lnTo>
                    <a:pt x="7075932" y="19050"/>
                  </a:lnTo>
                  <a:lnTo>
                    <a:pt x="7075932" y="0"/>
                  </a:lnTo>
                  <a:cubicBezTo>
                    <a:pt x="7115429" y="0"/>
                    <a:pt x="7147814" y="31750"/>
                    <a:pt x="7147814" y="71374"/>
                  </a:cubicBezTo>
                  <a:lnTo>
                    <a:pt x="7128764" y="71374"/>
                  </a:lnTo>
                  <a:lnTo>
                    <a:pt x="7147814" y="71374"/>
                  </a:lnTo>
                  <a:lnTo>
                    <a:pt x="7147814" y="2497201"/>
                  </a:lnTo>
                  <a:lnTo>
                    <a:pt x="7128764" y="2497201"/>
                  </a:lnTo>
                  <a:lnTo>
                    <a:pt x="7147814" y="2497201"/>
                  </a:lnTo>
                  <a:cubicBezTo>
                    <a:pt x="7147814" y="2536825"/>
                    <a:pt x="7115429" y="2568575"/>
                    <a:pt x="7075932" y="2568575"/>
                  </a:cubicBezTo>
                  <a:lnTo>
                    <a:pt x="7075932" y="2549525"/>
                  </a:lnTo>
                  <a:lnTo>
                    <a:pt x="7075932" y="2568575"/>
                  </a:lnTo>
                  <a:lnTo>
                    <a:pt x="71882" y="2568575"/>
                  </a:lnTo>
                  <a:lnTo>
                    <a:pt x="71882" y="2549525"/>
                  </a:lnTo>
                  <a:lnTo>
                    <a:pt x="71882" y="2568575"/>
                  </a:lnTo>
                  <a:cubicBezTo>
                    <a:pt x="32385" y="2568575"/>
                    <a:pt x="0" y="2536825"/>
                    <a:pt x="0" y="2497201"/>
                  </a:cubicBezTo>
                  <a:lnTo>
                    <a:pt x="0" y="71374"/>
                  </a:lnTo>
                  <a:lnTo>
                    <a:pt x="19050" y="71374"/>
                  </a:lnTo>
                  <a:lnTo>
                    <a:pt x="0" y="71374"/>
                  </a:lnTo>
                  <a:moveTo>
                    <a:pt x="38100" y="71374"/>
                  </a:moveTo>
                  <a:lnTo>
                    <a:pt x="38100" y="2497201"/>
                  </a:lnTo>
                  <a:lnTo>
                    <a:pt x="19050" y="2497201"/>
                  </a:lnTo>
                  <a:lnTo>
                    <a:pt x="38100" y="2497201"/>
                  </a:lnTo>
                  <a:cubicBezTo>
                    <a:pt x="38100" y="2515362"/>
                    <a:pt x="53086" y="2530475"/>
                    <a:pt x="71882" y="2530475"/>
                  </a:cubicBezTo>
                  <a:lnTo>
                    <a:pt x="7075932" y="2530475"/>
                  </a:lnTo>
                  <a:cubicBezTo>
                    <a:pt x="7094728" y="2530475"/>
                    <a:pt x="7109714" y="2515362"/>
                    <a:pt x="7109714" y="2497201"/>
                  </a:cubicBezTo>
                  <a:lnTo>
                    <a:pt x="7109714" y="71374"/>
                  </a:lnTo>
                  <a:cubicBezTo>
                    <a:pt x="7109714" y="53213"/>
                    <a:pt x="7094728" y="38100"/>
                    <a:pt x="7075932" y="38100"/>
                  </a:cubicBezTo>
                  <a:lnTo>
                    <a:pt x="71882" y="38100"/>
                  </a:lnTo>
                  <a:lnTo>
                    <a:pt x="71882" y="19050"/>
                  </a:lnTo>
                  <a:lnTo>
                    <a:pt x="71882" y="38100"/>
                  </a:lnTo>
                  <a:cubicBezTo>
                    <a:pt x="53086" y="38100"/>
                    <a:pt x="38100" y="53213"/>
                    <a:pt x="38100" y="71374"/>
                  </a:cubicBezTo>
                  <a:close/>
                </a:path>
              </a:pathLst>
            </a:custGeom>
            <a:solidFill>
              <a:srgbClr val="5D606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6694" y="7933430"/>
            <a:ext cx="3080147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🪶</a:t>
            </a:r>
            <a:r>
              <a:rPr lang="en-US" sz="24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Plume animée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694" y="8398669"/>
            <a:ext cx="4751632" cy="85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Descend à mesure que la relaxation progresse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63455" y="7628782"/>
            <a:ext cx="5360937" cy="1926431"/>
            <a:chOff x="0" y="0"/>
            <a:chExt cx="7147916" cy="2568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7109714" cy="2530475"/>
            </a:xfrm>
            <a:custGeom>
              <a:avLst/>
              <a:gdLst/>
              <a:ahLst/>
              <a:cxnLst/>
              <a:rect r="r" b="b" t="t" l="l"/>
              <a:pathLst>
                <a:path h="2530475" w="7109714">
                  <a:moveTo>
                    <a:pt x="0" y="52324"/>
                  </a:moveTo>
                  <a:cubicBezTo>
                    <a:pt x="0" y="23495"/>
                    <a:pt x="23622" y="0"/>
                    <a:pt x="52832" y="0"/>
                  </a:cubicBezTo>
                  <a:lnTo>
                    <a:pt x="7056882" y="0"/>
                  </a:lnTo>
                  <a:cubicBezTo>
                    <a:pt x="7086092" y="0"/>
                    <a:pt x="7109714" y="23495"/>
                    <a:pt x="7109714" y="52324"/>
                  </a:cubicBezTo>
                  <a:lnTo>
                    <a:pt x="7109714" y="2478151"/>
                  </a:lnTo>
                  <a:cubicBezTo>
                    <a:pt x="7109714" y="2507107"/>
                    <a:pt x="7086092" y="2530475"/>
                    <a:pt x="7056882" y="2530475"/>
                  </a:cubicBezTo>
                  <a:lnTo>
                    <a:pt x="52832" y="2530475"/>
                  </a:lnTo>
                  <a:cubicBezTo>
                    <a:pt x="23622" y="2530475"/>
                    <a:pt x="0" y="2506980"/>
                    <a:pt x="0" y="2478151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47814" cy="2568575"/>
            </a:xfrm>
            <a:custGeom>
              <a:avLst/>
              <a:gdLst/>
              <a:ahLst/>
              <a:cxnLst/>
              <a:rect r="r" b="b" t="t" l="l"/>
              <a:pathLst>
                <a:path h="2568575" w="7147814">
                  <a:moveTo>
                    <a:pt x="0" y="71374"/>
                  </a:moveTo>
                  <a:cubicBezTo>
                    <a:pt x="0" y="31750"/>
                    <a:pt x="32385" y="0"/>
                    <a:pt x="71882" y="0"/>
                  </a:cubicBezTo>
                  <a:lnTo>
                    <a:pt x="7075932" y="0"/>
                  </a:lnTo>
                  <a:lnTo>
                    <a:pt x="7075932" y="19050"/>
                  </a:lnTo>
                  <a:lnTo>
                    <a:pt x="7075932" y="0"/>
                  </a:lnTo>
                  <a:cubicBezTo>
                    <a:pt x="7115429" y="0"/>
                    <a:pt x="7147814" y="31750"/>
                    <a:pt x="7147814" y="71374"/>
                  </a:cubicBezTo>
                  <a:lnTo>
                    <a:pt x="7128764" y="71374"/>
                  </a:lnTo>
                  <a:lnTo>
                    <a:pt x="7147814" y="71374"/>
                  </a:lnTo>
                  <a:lnTo>
                    <a:pt x="7147814" y="2497201"/>
                  </a:lnTo>
                  <a:lnTo>
                    <a:pt x="7128764" y="2497201"/>
                  </a:lnTo>
                  <a:lnTo>
                    <a:pt x="7147814" y="2497201"/>
                  </a:lnTo>
                  <a:cubicBezTo>
                    <a:pt x="7147814" y="2536825"/>
                    <a:pt x="7115429" y="2568575"/>
                    <a:pt x="7075932" y="2568575"/>
                  </a:cubicBezTo>
                  <a:lnTo>
                    <a:pt x="7075932" y="2549525"/>
                  </a:lnTo>
                  <a:lnTo>
                    <a:pt x="7075932" y="2568575"/>
                  </a:lnTo>
                  <a:lnTo>
                    <a:pt x="71882" y="2568575"/>
                  </a:lnTo>
                  <a:lnTo>
                    <a:pt x="71882" y="2549525"/>
                  </a:lnTo>
                  <a:lnTo>
                    <a:pt x="71882" y="2568575"/>
                  </a:lnTo>
                  <a:cubicBezTo>
                    <a:pt x="32385" y="2568575"/>
                    <a:pt x="0" y="2536825"/>
                    <a:pt x="0" y="2497201"/>
                  </a:cubicBezTo>
                  <a:lnTo>
                    <a:pt x="0" y="71374"/>
                  </a:lnTo>
                  <a:lnTo>
                    <a:pt x="19050" y="71374"/>
                  </a:lnTo>
                  <a:lnTo>
                    <a:pt x="0" y="71374"/>
                  </a:lnTo>
                  <a:moveTo>
                    <a:pt x="38100" y="71374"/>
                  </a:moveTo>
                  <a:lnTo>
                    <a:pt x="38100" y="2497201"/>
                  </a:lnTo>
                  <a:lnTo>
                    <a:pt x="19050" y="2497201"/>
                  </a:lnTo>
                  <a:lnTo>
                    <a:pt x="38100" y="2497201"/>
                  </a:lnTo>
                  <a:cubicBezTo>
                    <a:pt x="38100" y="2515362"/>
                    <a:pt x="53086" y="2530475"/>
                    <a:pt x="71882" y="2530475"/>
                  </a:cubicBezTo>
                  <a:lnTo>
                    <a:pt x="7075932" y="2530475"/>
                  </a:lnTo>
                  <a:cubicBezTo>
                    <a:pt x="7094728" y="2530475"/>
                    <a:pt x="7109714" y="2515362"/>
                    <a:pt x="7109714" y="2497201"/>
                  </a:cubicBezTo>
                  <a:lnTo>
                    <a:pt x="7109714" y="71374"/>
                  </a:lnTo>
                  <a:cubicBezTo>
                    <a:pt x="7109714" y="53213"/>
                    <a:pt x="7094728" y="38100"/>
                    <a:pt x="7075932" y="38100"/>
                  </a:cubicBezTo>
                  <a:lnTo>
                    <a:pt x="71882" y="38100"/>
                  </a:lnTo>
                  <a:lnTo>
                    <a:pt x="71882" y="19050"/>
                  </a:lnTo>
                  <a:lnTo>
                    <a:pt x="71882" y="38100"/>
                  </a:lnTo>
                  <a:cubicBezTo>
                    <a:pt x="53086" y="38100"/>
                    <a:pt x="38100" y="53213"/>
                    <a:pt x="38100" y="71374"/>
                  </a:cubicBezTo>
                  <a:close/>
                </a:path>
              </a:pathLst>
            </a:custGeom>
            <a:solidFill>
              <a:srgbClr val="5D60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68113" y="7933430"/>
            <a:ext cx="3261417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📈</a:t>
            </a:r>
            <a:r>
              <a:rPr lang="en-US" sz="24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Courbes temps réel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68113" y="8398669"/>
            <a:ext cx="4751632" cy="45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PZT · PPG · ACC affichés simultanément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24865" y="7628782"/>
            <a:ext cx="5361089" cy="1926431"/>
            <a:chOff x="0" y="0"/>
            <a:chExt cx="7148119" cy="2568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7109968" cy="2530475"/>
            </a:xfrm>
            <a:custGeom>
              <a:avLst/>
              <a:gdLst/>
              <a:ahLst/>
              <a:cxnLst/>
              <a:rect r="r" b="b" t="t" l="l"/>
              <a:pathLst>
                <a:path h="2530475" w="7109968">
                  <a:moveTo>
                    <a:pt x="0" y="52324"/>
                  </a:moveTo>
                  <a:cubicBezTo>
                    <a:pt x="0" y="23495"/>
                    <a:pt x="23622" y="0"/>
                    <a:pt x="52832" y="0"/>
                  </a:cubicBezTo>
                  <a:lnTo>
                    <a:pt x="7057136" y="0"/>
                  </a:lnTo>
                  <a:cubicBezTo>
                    <a:pt x="7086346" y="0"/>
                    <a:pt x="7109968" y="23495"/>
                    <a:pt x="7109968" y="52324"/>
                  </a:cubicBezTo>
                  <a:lnTo>
                    <a:pt x="7109968" y="2478151"/>
                  </a:lnTo>
                  <a:cubicBezTo>
                    <a:pt x="7109968" y="2507107"/>
                    <a:pt x="7086346" y="2530475"/>
                    <a:pt x="7057136" y="2530475"/>
                  </a:cubicBezTo>
                  <a:lnTo>
                    <a:pt x="52832" y="2530475"/>
                  </a:lnTo>
                  <a:cubicBezTo>
                    <a:pt x="23622" y="2530475"/>
                    <a:pt x="0" y="2506980"/>
                    <a:pt x="0" y="2478151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48068" cy="2568575"/>
            </a:xfrm>
            <a:custGeom>
              <a:avLst/>
              <a:gdLst/>
              <a:ahLst/>
              <a:cxnLst/>
              <a:rect r="r" b="b" t="t" l="l"/>
              <a:pathLst>
                <a:path h="2568575" w="7148068">
                  <a:moveTo>
                    <a:pt x="0" y="71374"/>
                  </a:moveTo>
                  <a:cubicBezTo>
                    <a:pt x="0" y="31750"/>
                    <a:pt x="32385" y="0"/>
                    <a:pt x="71882" y="0"/>
                  </a:cubicBezTo>
                  <a:lnTo>
                    <a:pt x="7076186" y="0"/>
                  </a:lnTo>
                  <a:lnTo>
                    <a:pt x="7076186" y="19050"/>
                  </a:lnTo>
                  <a:lnTo>
                    <a:pt x="7076186" y="0"/>
                  </a:lnTo>
                  <a:cubicBezTo>
                    <a:pt x="7115683" y="0"/>
                    <a:pt x="7148068" y="31750"/>
                    <a:pt x="7148068" y="71374"/>
                  </a:cubicBezTo>
                  <a:lnTo>
                    <a:pt x="7129018" y="71374"/>
                  </a:lnTo>
                  <a:lnTo>
                    <a:pt x="7148068" y="71374"/>
                  </a:lnTo>
                  <a:lnTo>
                    <a:pt x="7148068" y="2497201"/>
                  </a:lnTo>
                  <a:lnTo>
                    <a:pt x="7129018" y="2497201"/>
                  </a:lnTo>
                  <a:lnTo>
                    <a:pt x="7148068" y="2497201"/>
                  </a:lnTo>
                  <a:cubicBezTo>
                    <a:pt x="7148068" y="2536825"/>
                    <a:pt x="7115683" y="2568575"/>
                    <a:pt x="7076186" y="2568575"/>
                  </a:cubicBezTo>
                  <a:lnTo>
                    <a:pt x="7076186" y="2549525"/>
                  </a:lnTo>
                  <a:lnTo>
                    <a:pt x="7076186" y="2568575"/>
                  </a:lnTo>
                  <a:lnTo>
                    <a:pt x="71882" y="2568575"/>
                  </a:lnTo>
                  <a:lnTo>
                    <a:pt x="71882" y="2549525"/>
                  </a:lnTo>
                  <a:lnTo>
                    <a:pt x="71882" y="2568575"/>
                  </a:lnTo>
                  <a:cubicBezTo>
                    <a:pt x="32385" y="2568575"/>
                    <a:pt x="0" y="2536825"/>
                    <a:pt x="0" y="2497201"/>
                  </a:cubicBezTo>
                  <a:lnTo>
                    <a:pt x="0" y="71374"/>
                  </a:lnTo>
                  <a:lnTo>
                    <a:pt x="19050" y="71374"/>
                  </a:lnTo>
                  <a:lnTo>
                    <a:pt x="0" y="71374"/>
                  </a:lnTo>
                  <a:moveTo>
                    <a:pt x="38100" y="71374"/>
                  </a:moveTo>
                  <a:lnTo>
                    <a:pt x="38100" y="2497201"/>
                  </a:lnTo>
                  <a:lnTo>
                    <a:pt x="19050" y="2497201"/>
                  </a:lnTo>
                  <a:lnTo>
                    <a:pt x="38100" y="2497201"/>
                  </a:lnTo>
                  <a:cubicBezTo>
                    <a:pt x="38100" y="2515362"/>
                    <a:pt x="53086" y="2530475"/>
                    <a:pt x="71882" y="2530475"/>
                  </a:cubicBezTo>
                  <a:lnTo>
                    <a:pt x="7076186" y="2530475"/>
                  </a:lnTo>
                  <a:cubicBezTo>
                    <a:pt x="7094982" y="2530475"/>
                    <a:pt x="7109968" y="2515362"/>
                    <a:pt x="7109968" y="2497201"/>
                  </a:cubicBezTo>
                  <a:lnTo>
                    <a:pt x="7109968" y="71374"/>
                  </a:lnTo>
                  <a:cubicBezTo>
                    <a:pt x="7109968" y="53213"/>
                    <a:pt x="7094982" y="38100"/>
                    <a:pt x="7076186" y="38100"/>
                  </a:cubicBezTo>
                  <a:lnTo>
                    <a:pt x="71882" y="38100"/>
                  </a:lnTo>
                  <a:lnTo>
                    <a:pt x="71882" y="19050"/>
                  </a:lnTo>
                  <a:lnTo>
                    <a:pt x="71882" y="38100"/>
                  </a:lnTo>
                  <a:cubicBezTo>
                    <a:pt x="53086" y="38100"/>
                    <a:pt x="38100" y="53213"/>
                    <a:pt x="38100" y="71374"/>
                  </a:cubicBezTo>
                  <a:close/>
                </a:path>
              </a:pathLst>
            </a:custGeom>
            <a:solidFill>
              <a:srgbClr val="5D606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29522" y="7933430"/>
            <a:ext cx="3080147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🔔</a:t>
            </a:r>
            <a:r>
              <a:rPr lang="en-US" sz="24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Deux alarmes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29522" y="8398669"/>
            <a:ext cx="4751784" cy="85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880 Hz (seuil score) · 1320 Hz (mouvement brusque)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05127" y="716309"/>
            <a:ext cx="7259536" cy="6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Équipe &amp; Développement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5127" y="2927299"/>
            <a:ext cx="9474841" cy="5368976"/>
            <a:chOff x="0" y="0"/>
            <a:chExt cx="12633122" cy="7158634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2633071" cy="7158609"/>
            </a:xfrm>
            <a:custGeom>
              <a:avLst/>
              <a:gdLst/>
              <a:ahLst/>
              <a:cxnLst/>
              <a:rect r="r" b="b" t="t" l="l"/>
              <a:pathLst>
                <a:path h="7158609" w="12633071">
                  <a:moveTo>
                    <a:pt x="0" y="0"/>
                  </a:moveTo>
                  <a:lnTo>
                    <a:pt x="12633071" y="0"/>
                  </a:lnTo>
                  <a:lnTo>
                    <a:pt x="12633071" y="7158609"/>
                  </a:lnTo>
                  <a:lnTo>
                    <a:pt x="0" y="7158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" r="0" b="-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748192" y="1869281"/>
            <a:ext cx="458095" cy="286350"/>
            <a:chOff x="0" y="0"/>
            <a:chExt cx="610794" cy="38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789" cy="381795"/>
            </a:xfrm>
            <a:custGeom>
              <a:avLst/>
              <a:gdLst/>
              <a:ahLst/>
              <a:cxnLst/>
              <a:rect r="r" b="b" t="t" l="l"/>
              <a:pathLst>
                <a:path h="381795" w="610789">
                  <a:moveTo>
                    <a:pt x="0" y="0"/>
                  </a:moveTo>
                  <a:lnTo>
                    <a:pt x="610789" y="0"/>
                  </a:lnTo>
                  <a:lnTo>
                    <a:pt x="610789" y="381795"/>
                  </a:lnTo>
                  <a:lnTo>
                    <a:pt x="0" y="381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1" t="0" r="-30202" b="-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10794" cy="38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48192" y="2229888"/>
            <a:ext cx="4843910" cy="28575"/>
            <a:chOff x="0" y="0"/>
            <a:chExt cx="6458547" cy="381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458585" cy="38100"/>
            </a:xfrm>
            <a:custGeom>
              <a:avLst/>
              <a:gdLst/>
              <a:ahLst/>
              <a:cxnLst/>
              <a:rect r="r" b="b" t="t" l="l"/>
              <a:pathLst>
                <a:path h="38100" w="6458585">
                  <a:moveTo>
                    <a:pt x="0" y="0"/>
                  </a:moveTo>
                  <a:lnTo>
                    <a:pt x="6458585" y="0"/>
                  </a:lnTo>
                  <a:lnTo>
                    <a:pt x="645858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748192" y="2391966"/>
            <a:ext cx="26951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Warren Betchem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8192" y="2875512"/>
            <a:ext cx="4843910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Interface Tkinter, animation plume, intégration PLUX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48192" y="3907479"/>
            <a:ext cx="458095" cy="286350"/>
            <a:chOff x="0" y="0"/>
            <a:chExt cx="610794" cy="38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0789" cy="381795"/>
            </a:xfrm>
            <a:custGeom>
              <a:avLst/>
              <a:gdLst/>
              <a:ahLst/>
              <a:cxnLst/>
              <a:rect r="r" b="b" t="t" l="l"/>
              <a:pathLst>
                <a:path h="381795" w="610789">
                  <a:moveTo>
                    <a:pt x="0" y="0"/>
                  </a:moveTo>
                  <a:lnTo>
                    <a:pt x="610789" y="0"/>
                  </a:lnTo>
                  <a:lnTo>
                    <a:pt x="610789" y="381795"/>
                  </a:lnTo>
                  <a:lnTo>
                    <a:pt x="0" y="381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1" t="0" r="-30202" b="-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10794" cy="38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48192" y="4245178"/>
            <a:ext cx="4843910" cy="28575"/>
            <a:chOff x="0" y="0"/>
            <a:chExt cx="6458547" cy="381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458585" cy="38100"/>
            </a:xfrm>
            <a:custGeom>
              <a:avLst/>
              <a:gdLst/>
              <a:ahLst/>
              <a:cxnLst/>
              <a:rect r="r" b="b" t="t" l="l"/>
              <a:pathLst>
                <a:path h="38100" w="6458585">
                  <a:moveTo>
                    <a:pt x="0" y="0"/>
                  </a:moveTo>
                  <a:lnTo>
                    <a:pt x="6458585" y="0"/>
                  </a:lnTo>
                  <a:lnTo>
                    <a:pt x="645858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5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748192" y="4430163"/>
            <a:ext cx="26951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Nana Talom Franck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48192" y="4913709"/>
            <a:ext cx="4843910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API PLUX, Bluetooth, lecture temps réel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48192" y="5622284"/>
            <a:ext cx="458095" cy="286350"/>
            <a:chOff x="0" y="0"/>
            <a:chExt cx="610794" cy="381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0789" cy="381795"/>
            </a:xfrm>
            <a:custGeom>
              <a:avLst/>
              <a:gdLst/>
              <a:ahLst/>
              <a:cxnLst/>
              <a:rect r="r" b="b" t="t" l="l"/>
              <a:pathLst>
                <a:path h="381795" w="610789">
                  <a:moveTo>
                    <a:pt x="0" y="0"/>
                  </a:moveTo>
                  <a:lnTo>
                    <a:pt x="610789" y="0"/>
                  </a:lnTo>
                  <a:lnTo>
                    <a:pt x="610789" y="381795"/>
                  </a:lnTo>
                  <a:lnTo>
                    <a:pt x="0" y="381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1" t="0" r="-30202" b="-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10794" cy="38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6E5EF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48192" y="5937199"/>
            <a:ext cx="4843910" cy="28575"/>
            <a:chOff x="0" y="0"/>
            <a:chExt cx="6458547" cy="38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458585" cy="38100"/>
            </a:xfrm>
            <a:custGeom>
              <a:avLst/>
              <a:gdLst/>
              <a:ahLst/>
              <a:cxnLst/>
              <a:rect r="r" b="b" t="t" l="l"/>
              <a:pathLst>
                <a:path h="38100" w="6458585">
                  <a:moveTo>
                    <a:pt x="0" y="0"/>
                  </a:moveTo>
                  <a:lnTo>
                    <a:pt x="6458585" y="0"/>
                  </a:lnTo>
                  <a:lnTo>
                    <a:pt x="645858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5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748192" y="6144968"/>
            <a:ext cx="2695127" cy="34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Joel Tchinda Tapa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48192" y="6628505"/>
            <a:ext cx="4843910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Traitement du signal, scripts check_plux.py &amp; record_raw.py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8192" y="7644260"/>
            <a:ext cx="4843910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4 semaines · ~20 h/étudiant · Concept &amp; calibration collectifs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748192" y="8457752"/>
            <a:ext cx="4843910" cy="828084"/>
            <a:chOff x="0" y="0"/>
            <a:chExt cx="6458547" cy="11041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58585" cy="1104138"/>
            </a:xfrm>
            <a:custGeom>
              <a:avLst/>
              <a:gdLst/>
              <a:ahLst/>
              <a:cxnLst/>
              <a:rect r="r" b="b" t="t" l="l"/>
              <a:pathLst>
                <a:path h="1104138" w="6458585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6412738" y="0"/>
                  </a:lnTo>
                  <a:cubicBezTo>
                    <a:pt x="6438011" y="0"/>
                    <a:pt x="6458585" y="20574"/>
                    <a:pt x="6458585" y="45847"/>
                  </a:cubicBezTo>
                  <a:lnTo>
                    <a:pt x="6458585" y="1058291"/>
                  </a:lnTo>
                  <a:cubicBezTo>
                    <a:pt x="6458585" y="1083564"/>
                    <a:pt x="6438011" y="1104138"/>
                    <a:pt x="6412738" y="1104138"/>
                  </a:cubicBezTo>
                  <a:lnTo>
                    <a:pt x="45847" y="1104138"/>
                  </a:lnTo>
                  <a:cubicBezTo>
                    <a:pt x="20574" y="1104138"/>
                    <a:pt x="0" y="1083564"/>
                    <a:pt x="0" y="1058291"/>
                  </a:cubicBezTo>
                  <a:close/>
                </a:path>
              </a:pathLst>
            </a:custGeom>
            <a:solidFill>
              <a:srgbClr val="49042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977240" y="8772077"/>
            <a:ext cx="286350" cy="229048"/>
            <a:chOff x="0" y="0"/>
            <a:chExt cx="381800" cy="305397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381762" cy="305435"/>
            </a:xfrm>
            <a:custGeom>
              <a:avLst/>
              <a:gdLst/>
              <a:ahLst/>
              <a:cxnLst/>
              <a:rect r="r" b="b" t="t" l="l"/>
              <a:pathLst>
                <a:path h="305435" w="381762">
                  <a:moveTo>
                    <a:pt x="0" y="0"/>
                  </a:moveTo>
                  <a:lnTo>
                    <a:pt x="381762" y="0"/>
                  </a:lnTo>
                  <a:lnTo>
                    <a:pt x="381762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" r="-9" b="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150" y="2183759"/>
            <a:ext cx="79550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Tests &amp; Validation</a:t>
            </a:r>
          </a:p>
        </p:txBody>
      </p:sp>
      <p:sp>
        <p:nvSpPr>
          <p:cNvPr name="Freeform 5" id="5" descr="preencoded.png"/>
          <p:cNvSpPr/>
          <p:nvPr/>
        </p:nvSpPr>
        <p:spPr>
          <a:xfrm flipH="false" flipV="false" rot="0">
            <a:off x="1047150" y="3681260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69166" y="3671735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PZT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9166" y="4214965"/>
            <a:ext cx="6787753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6–18 rpm détectés ✓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330928" y="3681260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594" t="0" r="-759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52945" y="3671735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PPG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52945" y="4214965"/>
            <a:ext cx="678790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~60 bpm au repos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47150" y="5377901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6709" r="0" b="-367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9166" y="5368376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ACC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9166" y="5911606"/>
            <a:ext cx="6787753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Alarme déclenchée immédiatement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30928" y="5377901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328" r="0" b="-632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52945" y="5368376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Mode Démo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2945" y="5911606"/>
            <a:ext cx="678790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Scénario 80 s sans capteurs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7150" y="6812604"/>
            <a:ext cx="16193691" cy="1271435"/>
            <a:chOff x="0" y="0"/>
            <a:chExt cx="21591588" cy="16952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91524" cy="1695196"/>
            </a:xfrm>
            <a:custGeom>
              <a:avLst/>
              <a:gdLst/>
              <a:ahLst/>
              <a:cxnLst/>
              <a:rect r="r" b="b" t="t" l="l"/>
              <a:pathLst>
                <a:path h="1695196" w="2159152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21531706" y="0"/>
                  </a:lnTo>
                  <a:cubicBezTo>
                    <a:pt x="21564727" y="0"/>
                    <a:pt x="21591524" y="26797"/>
                    <a:pt x="21591524" y="59817"/>
                  </a:cubicBezTo>
                  <a:lnTo>
                    <a:pt x="21591524" y="1635379"/>
                  </a:lnTo>
                  <a:cubicBezTo>
                    <a:pt x="21591524" y="1668399"/>
                    <a:pt x="21564727" y="1695196"/>
                    <a:pt x="21531706" y="1695196"/>
                  </a:cubicBezTo>
                  <a:lnTo>
                    <a:pt x="59817" y="1695196"/>
                  </a:lnTo>
                  <a:cubicBezTo>
                    <a:pt x="26797" y="1695196"/>
                    <a:pt x="0" y="1668399"/>
                    <a:pt x="0" y="1635379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6302" y="7248525"/>
            <a:ext cx="374009" cy="299142"/>
            <a:chOff x="0" y="0"/>
            <a:chExt cx="498678" cy="39885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98729" cy="398907"/>
            </a:xfrm>
            <a:custGeom>
              <a:avLst/>
              <a:gdLst/>
              <a:ahLst/>
              <a:cxnLst/>
              <a:rect r="r" b="b" t="t" l="l"/>
              <a:pathLst>
                <a:path h="398907" w="498729">
                  <a:moveTo>
                    <a:pt x="0" y="0"/>
                  </a:moveTo>
                  <a:lnTo>
                    <a:pt x="498729" y="0"/>
                  </a:lnTo>
                  <a:lnTo>
                    <a:pt x="498729" y="398907"/>
                  </a:lnTo>
                  <a:lnTo>
                    <a:pt x="0" y="398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13" t="0" r="-300" b="1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019452" y="7100735"/>
            <a:ext cx="1583665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PPG sensible au placement du doigt · Bluetooth parfois instable · Pas de valeur médicale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150" y="2514600"/>
            <a:ext cx="9585122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Conclusion &amp; Perspectives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150" y="3862388"/>
            <a:ext cx="9335691" cy="3890810"/>
            <a:chOff x="0" y="0"/>
            <a:chExt cx="12447588" cy="51877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47524" cy="5187696"/>
            </a:xfrm>
            <a:custGeom>
              <a:avLst/>
              <a:gdLst/>
              <a:ahLst/>
              <a:cxnLst/>
              <a:rect r="r" b="b" t="t" l="l"/>
              <a:pathLst>
                <a:path h="5187696" w="1244752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5127879"/>
                  </a:lnTo>
                  <a:cubicBezTo>
                    <a:pt x="12447524" y="5160899"/>
                    <a:pt x="12420727" y="5187696"/>
                    <a:pt x="12387707" y="5187696"/>
                  </a:cubicBezTo>
                  <a:lnTo>
                    <a:pt x="59817" y="5187696"/>
                  </a:lnTo>
                  <a:cubicBezTo>
                    <a:pt x="26797" y="5187696"/>
                    <a:pt x="0" y="5160899"/>
                    <a:pt x="0" y="5127879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7150" y="3862388"/>
            <a:ext cx="9335691" cy="1706013"/>
            <a:chOff x="0" y="0"/>
            <a:chExt cx="12447588" cy="22746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47524" cy="2274697"/>
            </a:xfrm>
            <a:custGeom>
              <a:avLst/>
              <a:gdLst/>
              <a:ahLst/>
              <a:cxnLst/>
              <a:rect r="r" b="b" t="t" l="l"/>
              <a:pathLst>
                <a:path h="2274697" w="1244752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87707" y="0"/>
                  </a:lnTo>
                  <a:cubicBezTo>
                    <a:pt x="12420727" y="0"/>
                    <a:pt x="12447524" y="26797"/>
                    <a:pt x="12447524" y="59817"/>
                  </a:cubicBezTo>
                  <a:lnTo>
                    <a:pt x="12447524" y="2214880"/>
                  </a:lnTo>
                  <a:cubicBezTo>
                    <a:pt x="12447524" y="2247900"/>
                    <a:pt x="12420727" y="2274697"/>
                    <a:pt x="12387707" y="2274697"/>
                  </a:cubicBezTo>
                  <a:lnTo>
                    <a:pt x="59817" y="2274697"/>
                  </a:lnTo>
                  <a:cubicBezTo>
                    <a:pt x="26797" y="2274697"/>
                    <a:pt x="0" y="2247900"/>
                    <a:pt x="0" y="2214880"/>
                  </a:cubicBezTo>
                  <a:close/>
                </a:path>
              </a:pathLst>
            </a:custGeom>
            <a:solidFill>
              <a:srgbClr val="44475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6302" y="4152005"/>
            <a:ext cx="3520230" cy="45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✅</a:t>
            </a: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Réussi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6302" y="4704759"/>
            <a:ext cx="8737406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Biofeedback fonctionnel, algorithme transparent, métaphore intuitive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150" y="5568401"/>
            <a:ext cx="9335691" cy="2184797"/>
            <a:chOff x="0" y="0"/>
            <a:chExt cx="12447588" cy="29130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47524" cy="2912999"/>
            </a:xfrm>
            <a:custGeom>
              <a:avLst/>
              <a:gdLst/>
              <a:ahLst/>
              <a:cxnLst/>
              <a:rect r="r" b="b" t="t" l="l"/>
              <a:pathLst>
                <a:path h="2912999" w="12447524">
                  <a:moveTo>
                    <a:pt x="0" y="0"/>
                  </a:moveTo>
                  <a:lnTo>
                    <a:pt x="12447524" y="0"/>
                  </a:lnTo>
                  <a:lnTo>
                    <a:pt x="12447524" y="2912999"/>
                  </a:lnTo>
                  <a:lnTo>
                    <a:pt x="0" y="2912999"/>
                  </a:lnTo>
                  <a:close/>
                </a:path>
              </a:pathLst>
            </a:custGeom>
            <a:solidFill>
              <a:srgbClr val="44475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7150" y="5568401"/>
            <a:ext cx="9335691" cy="38100"/>
            <a:chOff x="0" y="0"/>
            <a:chExt cx="12447588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47524" cy="50800"/>
            </a:xfrm>
            <a:custGeom>
              <a:avLst/>
              <a:gdLst/>
              <a:ahLst/>
              <a:cxnLst/>
              <a:rect r="r" b="b" t="t" l="l"/>
              <a:pathLst>
                <a:path h="50800" w="1244752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422124" y="0"/>
                  </a:lnTo>
                  <a:cubicBezTo>
                    <a:pt x="12436094" y="0"/>
                    <a:pt x="12447524" y="11430"/>
                    <a:pt x="12447524" y="25400"/>
                  </a:cubicBezTo>
                  <a:cubicBezTo>
                    <a:pt x="12447524" y="39370"/>
                    <a:pt x="12436094" y="50800"/>
                    <a:pt x="1242212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D606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6302" y="5858027"/>
            <a:ext cx="3520230" cy="45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⚙️</a:t>
            </a:r>
            <a:r>
              <a:rPr lang="en-US" sz="27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Améliorations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6302" y="6410773"/>
            <a:ext cx="8737406" cy="104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Calibration auto, qualité PZT, persistance du score, sessions longitudinales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DAHKzGBsgFk</dc:identifier>
  <dcterms:modified xsi:type="dcterms:W3CDTF">2011-08-01T06:04:30Z</dcterms:modified>
  <cp:revision>1</cp:revision>
  <dc:title>FeatherMind.pptx</dc:title>
</cp:coreProperties>
</file>